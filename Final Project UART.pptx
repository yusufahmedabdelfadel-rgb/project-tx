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294" r:id="rId6"/>
    <p:sldId id="296" r:id="rId7"/>
    <p:sldId id="301" r:id="rId8"/>
    <p:sldId id="303" r:id="rId9"/>
    <p:sldId id="302" r:id="rId10"/>
    <p:sldId id="295" r:id="rId11"/>
    <p:sldId id="297" r:id="rId12"/>
    <p:sldId id="300" r:id="rId13"/>
    <p:sldId id="304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1" d="100"/>
          <a:sy n="81" d="100"/>
        </p:scale>
        <p:origin x="754" y="6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80" y="2492650"/>
            <a:ext cx="5257794" cy="1610993"/>
          </a:xfrm>
        </p:spPr>
        <p:txBody>
          <a:bodyPr/>
          <a:lstStyle/>
          <a:p>
            <a:r>
              <a:rPr lang="en-US" sz="3600" dirty="0"/>
              <a:t>Final Project UART </a:t>
            </a:r>
            <a:br>
              <a:rPr lang="en-US" sz="3600" dirty="0"/>
            </a:br>
            <a:r>
              <a:rPr lang="en-US" sz="3600" dirty="0"/>
              <a:t>(Universal Asynchronous Receiver </a:t>
            </a:r>
            <a:r>
              <a:rPr lang="en-US" sz="3600" dirty="0" err="1"/>
              <a:t>Transmitte</a:t>
            </a:r>
            <a:r>
              <a:rPr lang="en-US" sz="3600" dirty="0"/>
              <a:t>)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84763" y="4160509"/>
            <a:ext cx="5471621" cy="781882"/>
          </a:xfrm>
        </p:spPr>
        <p:txBody>
          <a:bodyPr/>
          <a:lstStyle/>
          <a:p>
            <a:r>
              <a:rPr lang="en-US" dirty="0"/>
              <a:t>By:</a:t>
            </a:r>
            <a:r>
              <a:rPr lang="ar-EG" dirty="0"/>
              <a:t> </a:t>
            </a:r>
            <a:r>
              <a:rPr lang="en-US" dirty="0"/>
              <a:t>Yusuf Ahmed Mohmed Abdelfadel</a:t>
            </a:r>
          </a:p>
          <a:p>
            <a:r>
              <a:rPr lang="en-US" dirty="0"/>
              <a:t>Supervised by: Mohamed Sayed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6548" y="2712843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36C8769-E764-BAEA-EF12-7D77B53A7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68497" y="3223578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0128D79C-B037-002C-F30A-2DADB6AAF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4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6" name="Freeform: Shape 11">
            <a:extLst>
              <a:ext uri="{FF2B5EF4-FFF2-40B4-BE49-F238E27FC236}">
                <a16:creationId xmlns:a16="http://schemas.microsoft.com/office/drawing/2014/main" id="{5062AD7F-52AE-6B4D-AAC2-78008B6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5689" y="557834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43839066-53E8-8F00-713D-BAF4FF979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8876" y="4671241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6B9945-91D3-BEB2-6254-EDB26385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9" r="2876"/>
          <a:stretch>
            <a:fillRect/>
          </a:stretch>
        </p:blipFill>
        <p:spPr>
          <a:xfrm>
            <a:off x="164165" y="156790"/>
            <a:ext cx="3049412" cy="18738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ABD963-5621-F2CB-32D0-D76A54DBBD99}"/>
              </a:ext>
            </a:extLst>
          </p:cNvPr>
          <p:cNvSpPr txBox="1"/>
          <p:nvPr/>
        </p:nvSpPr>
        <p:spPr>
          <a:xfrm>
            <a:off x="4656398" y="239858"/>
            <a:ext cx="2879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Project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C1F14-84C6-B518-C25A-7F52B9330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36" y="1722443"/>
            <a:ext cx="4933228" cy="2430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74402F-AA17-DE71-DD28-C1D113E73D95}"/>
              </a:ext>
            </a:extLst>
          </p:cNvPr>
          <p:cNvSpPr txBox="1"/>
          <p:nvPr/>
        </p:nvSpPr>
        <p:spPr>
          <a:xfrm>
            <a:off x="292260" y="741550"/>
            <a:ext cx="10657389" cy="5643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Project Overview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UART Transmitter (UART TX) is a digital RTL design that converts 8-bit parallel input data into a serial UART frame. The transmitter receives new data when the V_INPUT signal is high for one clock cycle and sends the complete frame through TX_OUT.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Main Features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8-bit parallel data input through P_DATA[7:0].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 data transmission through TX_OUT.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BUSY signal indicates that the transmitter is processing a frame.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Optional parity bit controlled by P_EN.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Even or Odd parity selected using P_BIT.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Asynchronous Active-Low Reset.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New data is not accepted while a frame is being transmitted.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Main Sub-Modules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1. Control (FSM)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main controller of the design. It manages the transmission sequence using five states: STEP0, STEP1, STEP2, STEP3, and STEP4.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2. Serializer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Converts the 8-bit parallel input data into a serial bit stream and provides the data bits sequentially.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3. Parity Calculator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Generates the parity bit according to the selected parity mode: Even or Odd.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4. MUX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Selects the appropriate signal according to the current FSM state and sends it to TX_OUT.</a:t>
            </a:r>
          </a:p>
        </p:txBody>
      </p:sp>
    </p:spTree>
    <p:extLst>
      <p:ext uri="{BB962C8B-B14F-4D97-AF65-F5344CB8AC3E}">
        <p14:creationId xmlns:p14="http://schemas.microsoft.com/office/powerpoint/2010/main" val="206111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F02F-3699-C17B-C061-5A02D9E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F6AF4-E38B-DDF3-4D5C-72DB2EC3CF47}"/>
              </a:ext>
            </a:extLst>
          </p:cNvPr>
          <p:cNvSpPr txBox="1"/>
          <p:nvPr/>
        </p:nvSpPr>
        <p:spPr>
          <a:xfrm>
            <a:off x="4993511" y="365132"/>
            <a:ext cx="220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F7812-6E34-CECB-5860-B8C4A00A30F4}"/>
              </a:ext>
            </a:extLst>
          </p:cNvPr>
          <p:cNvSpPr txBox="1"/>
          <p:nvPr/>
        </p:nvSpPr>
        <p:spPr>
          <a:xfrm>
            <a:off x="115747" y="734464"/>
            <a:ext cx="11632557" cy="610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UART Frame Structure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START → DATA → OPTIONAL PARITY → STOP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TX_OUT line remains HIGH when the transmitter is idle.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FSM Sequence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STEP0 → STEP1 → STEP2 → STEP3 → STEP4 → STEP0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STEP0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Beginning / Idle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STEP1: Start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STEP2: Data Bits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STEP3: Parity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STEP4: Stop Bit / End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Top Module Data Flow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P_DATA → Serializer →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serial_out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┐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P_DATA → Parity Calculator →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parity_bit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├→ MUX → TX_OUT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V_INPUT, P_EN → Control FSM → state ┘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Control FSM → BUSY,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load_data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shift_en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Presentation Script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"This is our UART TX Top Module. Its main purpose is to integrate the four main sub-modules of our design: the Control FSM, Serializer, Parity Calculator, and MUX. The input data is received through the 8-bit P_DATA bus when V_INPUT is high. The Control module manages the transmission process and generates the required control signals. The Serializer converts the parallel data into a serial bit stream, while the Parity Calculator generates the selected parity bit. Finally, the MUX selects the correct signal according to the current FSM state and sends it to TX_OUT. Therefore, the Top Module connects all sub-modules together to implement the complete UART Transmitter."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Key Design Concept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Control = the brain of the design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Serializer = converts parallel data to serial data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Parity Calculator = generates the parity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MUX = selects the transmitted signal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Top Module = integrates and connects all four sub-modules</a:t>
            </a:r>
          </a:p>
        </p:txBody>
      </p:sp>
    </p:spTree>
    <p:extLst>
      <p:ext uri="{BB962C8B-B14F-4D97-AF65-F5344CB8AC3E}">
        <p14:creationId xmlns:p14="http://schemas.microsoft.com/office/powerpoint/2010/main" val="12442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6E70-7301-913E-82D2-85A69BA2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58442-A493-B2FF-52C0-099A4706DE2E}"/>
              </a:ext>
            </a:extLst>
          </p:cNvPr>
          <p:cNvSpPr txBox="1"/>
          <p:nvPr/>
        </p:nvSpPr>
        <p:spPr>
          <a:xfrm>
            <a:off x="338560" y="43457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MODULES: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3BFBE-ADC5-E8AA-C354-9FFDAFA93DD2}"/>
              </a:ext>
            </a:extLst>
          </p:cNvPr>
          <p:cNvSpPr txBox="1"/>
          <p:nvPr/>
        </p:nvSpPr>
        <p:spPr>
          <a:xfrm>
            <a:off x="338560" y="114063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1.Main Controller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1936C3-898C-A534-328C-C0D6CF0F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608" y="0"/>
            <a:ext cx="3536076" cy="6720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5DF09D-DFDB-9A51-C82F-EF4282F7A32D}"/>
              </a:ext>
            </a:extLst>
          </p:cNvPr>
          <p:cNvSpPr txBox="1"/>
          <p:nvPr/>
        </p:nvSpPr>
        <p:spPr>
          <a:xfrm>
            <a:off x="338560" y="1846691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Control Module</a:t>
            </a:r>
            <a:r>
              <a:rPr lang="en-US" dirty="0"/>
              <a:t> is the main controller of the UART Transmitter.</a:t>
            </a:r>
            <a:br>
              <a:rPr lang="en-US" dirty="0"/>
            </a:br>
            <a:r>
              <a:rPr lang="en-US" dirty="0"/>
              <a:t>It manages the transmission sequence using a </a:t>
            </a:r>
            <a:r>
              <a:rPr lang="en-US" b="1" dirty="0"/>
              <a:t>5-state Finite State Machine (FSM)</a:t>
            </a:r>
            <a:r>
              <a:rPr lang="en-US" dirty="0"/>
              <a:t>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D43CB79-970C-9AB9-48DD-7B07E1418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3272"/>
              </p:ext>
            </p:extLst>
          </p:nvPr>
        </p:nvGraphicFramePr>
        <p:xfrm>
          <a:off x="213167" y="3429000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620707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09714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79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STEP0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 / Idle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114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STEP1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650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STEP2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transmission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76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STEP3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Parity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7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STEP4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Stop bit /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5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5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6DC5-89CD-5D27-FAB3-178E3E0A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CA7270-51CE-6B6C-0373-0D5642321231}"/>
              </a:ext>
            </a:extLst>
          </p:cNvPr>
          <p:cNvSpPr txBox="1"/>
          <p:nvPr/>
        </p:nvSpPr>
        <p:spPr>
          <a:xfrm>
            <a:off x="338560" y="43457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MODULES: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79F3A-59BE-0534-19E5-C0266DED457B}"/>
              </a:ext>
            </a:extLst>
          </p:cNvPr>
          <p:cNvSpPr txBox="1"/>
          <p:nvPr/>
        </p:nvSpPr>
        <p:spPr>
          <a:xfrm>
            <a:off x="338560" y="114063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2• Serializer.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154083-0C94-9696-9296-A11F3219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942" y="619245"/>
            <a:ext cx="5687128" cy="5813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923AFCC-5C5E-429A-68BD-A5CC56719C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931" y="1655541"/>
            <a:ext cx="6335210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Loads the 8-bit input data into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register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load_data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enabled.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the data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serially, one bit per clock cycle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shift_en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control the shifting operation.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register shifts right by one bit, while inserting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the MSB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serial_out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connected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shift_reg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[0]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provides the transmitted bit. </a:t>
            </a:r>
          </a:p>
        </p:txBody>
      </p:sp>
    </p:spTree>
    <p:extLst>
      <p:ext uri="{BB962C8B-B14F-4D97-AF65-F5344CB8AC3E}">
        <p14:creationId xmlns:p14="http://schemas.microsoft.com/office/powerpoint/2010/main" val="162895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AEC0-C294-BA8D-BEF0-BACD453D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46EA8-DE33-2D07-900E-667DBF0631DC}"/>
              </a:ext>
            </a:extLst>
          </p:cNvPr>
          <p:cNvSpPr txBox="1"/>
          <p:nvPr/>
        </p:nvSpPr>
        <p:spPr>
          <a:xfrm>
            <a:off x="338560" y="43457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MODULES: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D0FF8-2013-4ED5-06E5-3C3F8CCED27B}"/>
              </a:ext>
            </a:extLst>
          </p:cNvPr>
          <p:cNvSpPr txBox="1"/>
          <p:nvPr/>
        </p:nvSpPr>
        <p:spPr>
          <a:xfrm>
            <a:off x="338560" y="114063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3• Mux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9BBA99-37CE-6323-470C-823F4626E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42" y="553077"/>
            <a:ext cx="4858768" cy="5751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3A108B3-4D43-93FC-6AC4-0D544A758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9605"/>
            <a:ext cx="68869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the appropriate signal to be transmitted based on the current UART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the Idle and Stop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the Start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 the serialized data during the Data Transmission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 the calculated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Parity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parity transmission is enabled.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86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1B6A3-5627-3CEB-A48B-7B78E6AA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23B0D-2908-B5E0-CF26-916F98225211}"/>
              </a:ext>
            </a:extLst>
          </p:cNvPr>
          <p:cNvSpPr txBox="1"/>
          <p:nvPr/>
        </p:nvSpPr>
        <p:spPr>
          <a:xfrm>
            <a:off x="338560" y="43457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MODULES: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EC858-FD07-402B-2BE9-9E330BE62C45}"/>
              </a:ext>
            </a:extLst>
          </p:cNvPr>
          <p:cNvSpPr txBox="1"/>
          <p:nvPr/>
        </p:nvSpPr>
        <p:spPr>
          <a:xfrm>
            <a:off x="338560" y="114063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4• Parity bit calculator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98D1FC-0C1A-74CD-B101-D08F250D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704" y="2555951"/>
            <a:ext cx="6834791" cy="2374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DA3D332-A400-819D-DDDB-CE9EEB12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26" y="1846691"/>
            <a:ext cx="444467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Parity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8-bit transmitted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 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determine the parity of all data 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Parity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Odd Parity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P_BIT = 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selects Even Parity,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P_BIT =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selects Odd Parity.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generated parity bit is sent along with the data to improve transmission error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9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255E-D28D-4B3B-A662-EDACA7E2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46" y="319315"/>
            <a:ext cx="3371850" cy="581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459" y="554151"/>
            <a:ext cx="4267198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مستطيل 1"/>
          <p:cNvSpPr/>
          <p:nvPr/>
        </p:nvSpPr>
        <p:spPr>
          <a:xfrm>
            <a:off x="6662059" y="1154277"/>
            <a:ext cx="2801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Task and Check transmitted bits</a:t>
            </a:r>
            <a:endParaRPr lang="ar-E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9056914" y="794479"/>
            <a:ext cx="2975428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r>
              <a:rPr kumimoji="0" 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UART </a:t>
            </a:r>
            <a:r>
              <a:rPr kumimoji="0" 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Testbench</a:t>
            </a:r>
            <a:endParaRPr kumimoji="0" lang="ar-SA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Generates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</a:t>
            </a:r>
            <a:r>
              <a:rPr kumimoji="0" lang="ar-S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clock and reset</a:t>
            </a:r>
            <a:r>
              <a:rPr kumimoji="0" lang="ar-S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signals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Sends test data using the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V_INPUT trigger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Calculates the expected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parity bit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Checks the transmitted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TX_OUT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bits against the expected UART frame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Verifies the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BUSY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signal during transmission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Tests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ar-S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cases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 Parity</a:t>
            </a:r>
            <a:endParaRPr kumimoji="0" 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Even Parity</a:t>
            </a:r>
            <a:endParaRPr kumimoji="0" 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Odd Parity</a:t>
            </a:r>
            <a:endParaRPr kumimoji="0" 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Displays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PASS/ERROR</a:t>
            </a:r>
            <a:r>
              <a:rPr kumimoji="0" 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results for each tes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  <a:r>
              <a:rPr kumimoji="0" 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83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CD28-FD7F-52FF-5E38-3DCFB3C1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aca664f3-9ec6-493f-8df7-01d4ab39a80c"/>
          <p:cNvSpPr>
            <a:spLocks noChangeAspect="1" noChangeArrowheads="1"/>
          </p:cNvSpPr>
          <p:nvPr/>
        </p:nvSpPr>
        <p:spPr bwMode="auto">
          <a:xfrm>
            <a:off x="11971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2051" name="Picture 3" descr="C:\Users\hp\Desktop\yu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9938"/>
            <a:ext cx="12192000" cy="5851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مربع نص 2"/>
          <p:cNvSpPr txBox="1"/>
          <p:nvPr/>
        </p:nvSpPr>
        <p:spPr>
          <a:xfrm>
            <a:off x="4920343" y="160338"/>
            <a:ext cx="2148114" cy="523220"/>
          </a:xfrm>
          <a:prstGeom prst="rect">
            <a:avLst/>
          </a:prstGeom>
        </p:spPr>
        <p:txBody>
          <a:bodyPr wrap="square" rtlCol="1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800" b="1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Wave form</a:t>
            </a:r>
            <a:endParaRPr lang="ar-EG" sz="3200" b="1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23652" y="257081"/>
            <a:ext cx="10889796" cy="1136290"/>
          </a:xfrm>
        </p:spPr>
        <p:txBody>
          <a:bodyPr/>
          <a:lstStyle/>
          <a:p>
            <a:pPr algn="ctr"/>
            <a:r>
              <a:rPr lang="en-US" dirty="0"/>
              <a:t>Waveform Output</a:t>
            </a:r>
            <a:endParaRPr lang="ar-EG" dirty="0"/>
          </a:p>
        </p:txBody>
      </p:sp>
      <p:graphicFrame>
        <p:nvGraphicFramePr>
          <p:cNvPr id="7" name="عنصر نائب للجدول 6"/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906609818"/>
              </p:ext>
            </p:extLst>
          </p:nvPr>
        </p:nvGraphicFramePr>
        <p:xfrm>
          <a:off x="959109" y="1614488"/>
          <a:ext cx="10134081" cy="4331271"/>
        </p:xfrm>
        <a:graphic>
          <a:graphicData uri="http://schemas.openxmlformats.org/drawingml/2006/table">
            <a:tbl>
              <a:tblPr/>
              <a:tblGrid>
                <a:gridCol w="3378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90">
                <a:tc>
                  <a:txBody>
                    <a:bodyPr/>
                    <a:lstStyle/>
                    <a:p>
                      <a:r>
                        <a:rPr lang="en-US" sz="1700" dirty="0"/>
                        <a:t>Signal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Value / Behavior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Description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r>
                        <a:rPr lang="en-US" sz="1700" b="1"/>
                        <a:t>CLK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Periodic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System clock for synchronization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r>
                        <a:rPr lang="en-US" sz="1700" b="1"/>
                        <a:t>rst_n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0 to 1</a:t>
                      </a:r>
                      <a:endParaRPr lang="ar-EG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Reset is released and UART starts operating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r>
                        <a:rPr lang="en-US" sz="1700" b="1"/>
                        <a:t>P_DATA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10100101</a:t>
                      </a:r>
                      <a:endParaRPr lang="ar-E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8-bit data to be transmitted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r>
                        <a:rPr lang="en-US" sz="1700" b="1"/>
                        <a:t>V_INPUT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Pulse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Triggers the transmission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r>
                        <a:rPr lang="en-US" sz="1700" b="1"/>
                        <a:t>P_EN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</a:t>
                      </a:r>
                      <a:endParaRPr lang="ar-EG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Parity is enabled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r>
                        <a:rPr lang="en-US" sz="1700" b="1"/>
                        <a:t>P_BIT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</a:t>
                      </a:r>
                      <a:endParaRPr lang="ar-EG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Even parity selected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r>
                        <a:rPr lang="en-US" sz="1700" b="1"/>
                        <a:t>TX_OUT</a:t>
                      </a:r>
                      <a:endParaRPr lang="en-US" sz="170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 → Data → Parity → 1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Serial UART output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r>
                        <a:rPr lang="en-US" sz="1700" b="1" dirty="0"/>
                        <a:t>BUSY</a:t>
                      </a:r>
                      <a:endParaRPr lang="en-US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 to 0</a:t>
                      </a:r>
                      <a:endParaRPr lang="ar-EG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High during transmission, low when finished</a:t>
                      </a:r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490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ar-EG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 marL="88122" marR="88122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عنصر نائب للتذييل 3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 err="1"/>
              <a:t>Uart_tx</a:t>
            </a:r>
            <a:endParaRPr lang="en-US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8419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328</TotalTime>
  <Words>976</Words>
  <Application>Microsoft Office PowerPoint</Application>
  <PresentationFormat>Widescreen</PresentationFormat>
  <Paragraphs>109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等线</vt:lpstr>
      <vt:lpstr>Abadi</vt:lpstr>
      <vt:lpstr>Arial</vt:lpstr>
      <vt:lpstr>Arial Unicode MS</vt:lpstr>
      <vt:lpstr>Calibri</vt:lpstr>
      <vt:lpstr>Cambria</vt:lpstr>
      <vt:lpstr>Posterama</vt:lpstr>
      <vt:lpstr>Posterama Text Black</vt:lpstr>
      <vt:lpstr>Posterama Text SemiBold</vt:lpstr>
      <vt:lpstr>Symbol</vt:lpstr>
      <vt:lpstr>Custom​​</vt:lpstr>
      <vt:lpstr>Final Project UART  (Universal Asynchronous Receiver Transmitte)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Waveform 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UART  (Universal Asynchronous Receiver Transmitte) </dc:title>
  <dc:creator>Yusuf Ahmed Mohmed Abdelfadel</dc:creator>
  <cp:lastModifiedBy>Yusuf Ahmed Mohmed Abdelfadel</cp:lastModifiedBy>
  <cp:revision>6</cp:revision>
  <dcterms:created xsi:type="dcterms:W3CDTF">2026-08-28T16:05:39Z</dcterms:created>
  <dcterms:modified xsi:type="dcterms:W3CDTF">2026-08-28T22:57:28Z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